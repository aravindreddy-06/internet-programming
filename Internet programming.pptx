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60" r:id="rId5"/>
    <p:sldId id="261" r:id="rId6"/>
    <p:sldId id="263" r:id="rId7"/>
    <p:sldId id="262" r:id="rId8"/>
    <p:sldId id="269" r:id="rId9"/>
    <p:sldId id="265" r:id="rId10"/>
    <p:sldId id="271" r:id="rId11"/>
    <p:sldId id="280" r:id="rId12"/>
    <p:sldId id="279" r:id="rId13"/>
    <p:sldId id="268" r:id="rId14"/>
    <p:sldId id="270" r:id="rId15"/>
    <p:sldId id="273" r:id="rId16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B910BF-14D4-4C22-BB1C-6320158D43E8}" v="4" dt="2026-08-18T05:11:29.2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91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IRAJ C" userId="4b94bcfdc00cbcec" providerId="LiveId" clId="{CDD36AA9-2D3F-4D51-94D8-D1A3743C57B2}"/>
    <pc:docChg chg="delSld modSld">
      <pc:chgData name="SAIRAJ C" userId="4b94bcfdc00cbcec" providerId="LiveId" clId="{CDD36AA9-2D3F-4D51-94D8-D1A3743C57B2}" dt="2026-08-18T05:11:29.268" v="51"/>
      <pc:docMkLst>
        <pc:docMk/>
      </pc:docMkLst>
      <pc:sldChg chg="modSp mod">
        <pc:chgData name="SAIRAJ C" userId="4b94bcfdc00cbcec" providerId="LiveId" clId="{CDD36AA9-2D3F-4D51-94D8-D1A3743C57B2}" dt="2026-08-18T05:11:29.268" v="51"/>
        <pc:sldMkLst>
          <pc:docMk/>
          <pc:sldMk cId="109857222" sldId="256"/>
        </pc:sldMkLst>
        <pc:spChg chg="mod">
          <ac:chgData name="SAIRAJ C" userId="4b94bcfdc00cbcec" providerId="LiveId" clId="{CDD36AA9-2D3F-4D51-94D8-D1A3743C57B2}" dt="2026-08-18T05:11:29.268" v="51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SAIRAJ C" userId="4b94bcfdc00cbcec" providerId="LiveId" clId="{CDD36AA9-2D3F-4D51-94D8-D1A3743C57B2}" dt="2026-08-18T05:05:31.030" v="16" actId="14100"/>
          <ac:spMkLst>
            <pc:docMk/>
            <pc:sldMk cId="109857222" sldId="256"/>
            <ac:spMk id="3" creationId="{00000000-0000-0000-0000-000000000000}"/>
          </ac:spMkLst>
        </pc:spChg>
        <pc:spChg chg="mod">
          <ac:chgData name="SAIRAJ C" userId="4b94bcfdc00cbcec" providerId="LiveId" clId="{CDD36AA9-2D3F-4D51-94D8-D1A3743C57B2}" dt="2026-08-18T05:10:23.150" v="47" actId="20577"/>
          <ac:spMkLst>
            <pc:docMk/>
            <pc:sldMk cId="109857222" sldId="256"/>
            <ac:spMk id="6" creationId="{301787BB-183D-523D-BB26-24D547C882D6}"/>
          </ac:spMkLst>
        </pc:spChg>
        <pc:spChg chg="mod">
          <ac:chgData name="SAIRAJ C" userId="4b94bcfdc00cbcec" providerId="LiveId" clId="{CDD36AA9-2D3F-4D51-94D8-D1A3743C57B2}" dt="2026-08-18T05:11:10.725" v="50" actId="255"/>
          <ac:spMkLst>
            <pc:docMk/>
            <pc:sldMk cId="109857222" sldId="256"/>
            <ac:spMk id="8" creationId="{9ED85A3F-CEDD-7BE9-DE77-21A5BBCD6B98}"/>
          </ac:spMkLst>
        </pc:spChg>
      </pc:sldChg>
      <pc:sldChg chg="del">
        <pc:chgData name="SAIRAJ C" userId="4b94bcfdc00cbcec" providerId="LiveId" clId="{CDD36AA9-2D3F-4D51-94D8-D1A3743C57B2}" dt="2026-08-18T04:58:32.215" v="0" actId="47"/>
        <pc:sldMkLst>
          <pc:docMk/>
          <pc:sldMk cId="385677681" sldId="266"/>
        </pc:sldMkLst>
      </pc:sldChg>
      <pc:sldChg chg="modSp mod">
        <pc:chgData name="SAIRAJ C" userId="4b94bcfdc00cbcec" providerId="LiveId" clId="{CDD36AA9-2D3F-4D51-94D8-D1A3743C57B2}" dt="2026-08-18T04:59:33.017" v="8" actId="20577"/>
        <pc:sldMkLst>
          <pc:docMk/>
          <pc:sldMk cId="877478562" sldId="271"/>
        </pc:sldMkLst>
        <pc:spChg chg="mod">
          <ac:chgData name="SAIRAJ C" userId="4b94bcfdc00cbcec" providerId="LiveId" clId="{CDD36AA9-2D3F-4D51-94D8-D1A3743C57B2}" dt="2026-08-18T04:59:33.017" v="8" actId="20577"/>
          <ac:spMkLst>
            <pc:docMk/>
            <pc:sldMk cId="877478562" sldId="271"/>
            <ac:spMk id="2" creationId="{8A66F805-5BB5-D35C-A4E8-3AF67D8BE3CB}"/>
          </ac:spMkLst>
        </pc:spChg>
      </pc:sldChg>
      <pc:sldChg chg="del">
        <pc:chgData name="SAIRAJ C" userId="4b94bcfdc00cbcec" providerId="LiveId" clId="{CDD36AA9-2D3F-4D51-94D8-D1A3743C57B2}" dt="2026-08-18T04:58:44.822" v="2" actId="47"/>
        <pc:sldMkLst>
          <pc:docMk/>
          <pc:sldMk cId="680761875" sldId="272"/>
        </pc:sldMkLst>
      </pc:sldChg>
      <pc:sldChg chg="del">
        <pc:chgData name="SAIRAJ C" userId="4b94bcfdc00cbcec" providerId="LiveId" clId="{CDD36AA9-2D3F-4D51-94D8-D1A3743C57B2}" dt="2026-08-18T04:59:18.364" v="4" actId="47"/>
        <pc:sldMkLst>
          <pc:docMk/>
          <pc:sldMk cId="626856802" sldId="274"/>
        </pc:sldMkLst>
      </pc:sldChg>
      <pc:sldChg chg="del">
        <pc:chgData name="SAIRAJ C" userId="4b94bcfdc00cbcec" providerId="LiveId" clId="{CDD36AA9-2D3F-4D51-94D8-D1A3743C57B2}" dt="2026-08-18T04:59:21.319" v="5" actId="47"/>
        <pc:sldMkLst>
          <pc:docMk/>
          <pc:sldMk cId="641503918" sldId="275"/>
        </pc:sldMkLst>
      </pc:sldChg>
      <pc:sldChg chg="del">
        <pc:chgData name="SAIRAJ C" userId="4b94bcfdc00cbcec" providerId="LiveId" clId="{CDD36AA9-2D3F-4D51-94D8-D1A3743C57B2}" dt="2026-08-18T04:58:33.326" v="1" actId="47"/>
        <pc:sldMkLst>
          <pc:docMk/>
          <pc:sldMk cId="613048743" sldId="276"/>
        </pc:sldMkLst>
      </pc:sldChg>
      <pc:sldChg chg="del">
        <pc:chgData name="SAIRAJ C" userId="4b94bcfdc00cbcec" providerId="LiveId" clId="{CDD36AA9-2D3F-4D51-94D8-D1A3743C57B2}" dt="2026-08-18T04:59:26.591" v="6" actId="47"/>
        <pc:sldMkLst>
          <pc:docMk/>
          <pc:sldMk cId="1175444935" sldId="277"/>
        </pc:sldMkLst>
      </pc:sldChg>
      <pc:sldChg chg="del">
        <pc:chgData name="SAIRAJ C" userId="4b94bcfdc00cbcec" providerId="LiveId" clId="{CDD36AA9-2D3F-4D51-94D8-D1A3743C57B2}" dt="2026-08-18T04:58:47.125" v="3" actId="47"/>
        <pc:sldMkLst>
          <pc:docMk/>
          <pc:sldMk cId="3470160125" sldId="27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18/08/2026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18/08/2026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18/08/2026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18/08/2026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18/08/2026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18/08/2026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18/08/2026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18/08/2026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18/08/2026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18/08/2026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18/08/2026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18/08/2026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6599" y="1868961"/>
            <a:ext cx="11418793" cy="1020086"/>
          </a:xfrm>
        </p:spPr>
        <p:txBody>
          <a:bodyPr>
            <a:normAutofit/>
          </a:bodyPr>
          <a:lstStyle/>
          <a:p>
            <a:r>
              <a:rPr lang="en-GB" sz="2800" b="1" dirty="0">
                <a:latin typeface="Times New Roman" panose="02020603050405020304" pitchFamily="18" charset="0"/>
                <a:ea typeface="+mj-lt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Development of an Intelligent Personal Finance Management System with AI-Driven Expense Analytics and Budget Optimization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8229" y="3968953"/>
            <a:ext cx="3931920" cy="182894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  <a:b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Sairaj C-(192411018)</a:t>
            </a:r>
          </a:p>
          <a:p>
            <a:pPr algn="l">
              <a:lnSpc>
                <a:spcPct val="110000"/>
              </a:lnSpc>
              <a:spcBef>
                <a:spcPts val="600"/>
              </a:spcBef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Alan Aldrin EA-(192411023)</a:t>
            </a:r>
          </a:p>
          <a:p>
            <a:pPr algn="l">
              <a:lnSpc>
                <a:spcPct val="110000"/>
              </a:lnSpc>
              <a:spcBef>
                <a:spcPts val="600"/>
              </a:spcBef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Aravind Kumar Reddy-192324225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1787BB-183D-523D-BB26-24D547C882D6}"/>
              </a:ext>
            </a:extLst>
          </p:cNvPr>
          <p:cNvSpPr txBox="1"/>
          <p:nvPr/>
        </p:nvSpPr>
        <p:spPr>
          <a:xfrm>
            <a:off x="879566" y="3968953"/>
            <a:ext cx="236728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ea typeface="Calibri (MS)"/>
                <a:cs typeface="Times New Roman" panose="02020603050405020304" pitchFamily="18" charset="0"/>
                <a:sym typeface="Calibri (MS)"/>
              </a:rPr>
              <a:t>SUPERVISOR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N.Marie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claude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Freeform 5" descr="A blue and white logo  Description automatically generated">
            <a:extLst>
              <a:ext uri="{FF2B5EF4-FFF2-40B4-BE49-F238E27FC236}">
                <a16:creationId xmlns:a16="http://schemas.microsoft.com/office/drawing/2014/main" id="{D643C59B-0548-DB0E-82EB-71A5D971B4B8}"/>
              </a:ext>
            </a:extLst>
          </p:cNvPr>
          <p:cNvSpPr/>
          <p:nvPr/>
        </p:nvSpPr>
        <p:spPr>
          <a:xfrm>
            <a:off x="1534033" y="340840"/>
            <a:ext cx="9123933" cy="1188224"/>
          </a:xfrm>
          <a:custGeom>
            <a:avLst/>
            <a:gdLst/>
            <a:ahLst/>
            <a:cxnLst/>
            <a:rect l="l" t="t" r="r" b="b"/>
            <a:pathLst>
              <a:path w="8579203" h="1100998">
                <a:moveTo>
                  <a:pt x="0" y="0"/>
                </a:moveTo>
                <a:lnTo>
                  <a:pt x="8579202" y="0"/>
                </a:lnTo>
                <a:lnTo>
                  <a:pt x="8579202" y="1100998"/>
                </a:lnTo>
                <a:lnTo>
                  <a:pt x="0" y="11009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sz="135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D85A3F-CEDD-7BE9-DE77-21A5BBCD6B98}"/>
              </a:ext>
            </a:extLst>
          </p:cNvPr>
          <p:cNvSpPr txBox="1"/>
          <p:nvPr/>
        </p:nvSpPr>
        <p:spPr>
          <a:xfrm>
            <a:off x="1132345" y="3028890"/>
            <a:ext cx="99272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200" b="1" dirty="0"/>
              <a:t>CSA4303 - INTERNET PROGRAMMING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F7101-9454-E441-C4ED-61BD10033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724" y="0"/>
            <a:ext cx="10515600" cy="1325563"/>
          </a:xfrm>
        </p:spPr>
        <p:txBody>
          <a:bodyPr/>
          <a:lstStyle/>
          <a:p>
            <a:pPr algn="ctr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6C1C87-8A8F-6348-E1BA-67863199E7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7724" y="1824429"/>
            <a:ext cx="7411720" cy="3670552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GB" sz="2000" dirty="0">
                <a:latin typeface="Times New Roman"/>
                <a:ea typeface="+mn-lt"/>
                <a:cs typeface="+mn-lt"/>
              </a:rPr>
              <a:t>A Smart Digital Wallet helps users manage financial transactions digitally.</a:t>
            </a:r>
          </a:p>
          <a:p>
            <a:pPr algn="just">
              <a:lnSpc>
                <a:spcPct val="150000"/>
              </a:lnSpc>
            </a:pPr>
            <a:r>
              <a:rPr lang="en-GB" sz="2000" dirty="0">
                <a:latin typeface="Times New Roman"/>
                <a:ea typeface="+mn-lt"/>
                <a:cs typeface="+mn-lt"/>
              </a:rPr>
              <a:t>Tracks income and expenses in real time.</a:t>
            </a:r>
          </a:p>
          <a:p>
            <a:pPr algn="just">
              <a:lnSpc>
                <a:spcPct val="150000"/>
              </a:lnSpc>
            </a:pPr>
            <a:r>
              <a:rPr lang="en-GB" sz="2000" dirty="0">
                <a:latin typeface="Times New Roman"/>
                <a:ea typeface="+mn-lt"/>
                <a:cs typeface="+mn-lt"/>
              </a:rPr>
              <a:t>Provides budget monitoring and financial insights.</a:t>
            </a:r>
          </a:p>
          <a:p>
            <a:pPr algn="just">
              <a:lnSpc>
                <a:spcPct val="150000"/>
              </a:lnSpc>
            </a:pPr>
            <a:r>
              <a:rPr lang="en-GB" sz="2000" dirty="0">
                <a:latin typeface="Times New Roman"/>
                <a:ea typeface="+mn-lt"/>
                <a:cs typeface="+mn-lt"/>
              </a:rPr>
              <a:t>Designed using Object-Oriented principles for modularity and scalability.</a:t>
            </a:r>
          </a:p>
          <a:p>
            <a:pPr algn="just">
              <a:lnSpc>
                <a:spcPct val="150000"/>
              </a:lnSpc>
            </a:pPr>
            <a:endParaRPr lang="en-GB" sz="2000" dirty="0">
              <a:latin typeface="Times New Roman"/>
              <a:cs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46DF74-87F0-9CC4-0339-2046BB6058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8943" y="1946173"/>
            <a:ext cx="3081158" cy="27388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7C46C41-A92C-96C7-BEDF-B870178DC449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8005" y="122801"/>
            <a:ext cx="743860" cy="903742"/>
          </a:xfrm>
          <a:prstGeom prst="rect">
            <a:avLst/>
          </a:prstGeom>
          <a:noFill/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F7877B0-CCE5-9596-C0CE-6A77587E556E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29182" y="122801"/>
            <a:ext cx="885837" cy="90374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424688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37CDC-1A89-3A30-C357-912B53EA0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052"/>
            <a:ext cx="10515600" cy="1325563"/>
          </a:xfrm>
        </p:spPr>
        <p:txBody>
          <a:bodyPr/>
          <a:lstStyle/>
          <a:p>
            <a:pPr algn="ctr"/>
            <a:r>
              <a:rPr lang="en-GB" b="1" dirty="0">
                <a:latin typeface="Times New Roman" panose="02020603050405020304" pitchFamily="18" charset="0"/>
                <a:ea typeface="Yu Gothic" panose="020B0400000000000000" pitchFamily="34" charset="-128"/>
                <a:cs typeface="Times New Roman" panose="02020603050405020304" pitchFamily="18" charset="0"/>
              </a:rPr>
              <a:t>Problem Statement</a:t>
            </a:r>
            <a:endParaRPr lang="en-US" b="1" dirty="0">
              <a:latin typeface="Times New Roman" panose="02020603050405020304" pitchFamily="18" charset="0"/>
              <a:ea typeface="Yu Gothic" panose="020B0400000000000000" pitchFamily="34" charset="-128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ED20EC-F7A7-F1B6-F046-C463AAF5E5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9542" y="1690688"/>
            <a:ext cx="6771640" cy="4486274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GB" sz="1800" dirty="0">
                <a:latin typeface="Times New Roman"/>
                <a:ea typeface="+mn-lt"/>
                <a:cs typeface="+mn-lt"/>
              </a:rPr>
              <a:t>Users perform multiple daily financial transactions that are difficult to track manually.</a:t>
            </a:r>
          </a:p>
          <a:p>
            <a:pPr algn="just">
              <a:lnSpc>
                <a:spcPct val="150000"/>
              </a:lnSpc>
            </a:pPr>
            <a:r>
              <a:rPr lang="en-GB" sz="1800" dirty="0">
                <a:latin typeface="Times New Roman"/>
                <a:ea typeface="+mn-lt"/>
                <a:cs typeface="+mn-lt"/>
              </a:rPr>
              <a:t>Existing systems lack proper expense monitoring and budget analysis.</a:t>
            </a:r>
          </a:p>
          <a:p>
            <a:pPr algn="just">
              <a:lnSpc>
                <a:spcPct val="150000"/>
              </a:lnSpc>
            </a:pPr>
            <a:r>
              <a:rPr lang="en-GB" sz="1800" dirty="0">
                <a:latin typeface="Times New Roman"/>
                <a:ea typeface="+mn-lt"/>
                <a:cs typeface="+mn-lt"/>
              </a:rPr>
              <a:t>Users face challenges in categorizing expenses and controlling overspending.</a:t>
            </a:r>
          </a:p>
          <a:p>
            <a:pPr algn="just">
              <a:lnSpc>
                <a:spcPct val="150000"/>
              </a:lnSpc>
            </a:pPr>
            <a:r>
              <a:rPr lang="en-GB" sz="1800" dirty="0">
                <a:latin typeface="Times New Roman"/>
                <a:ea typeface="+mn-lt"/>
                <a:cs typeface="+mn-lt"/>
              </a:rPr>
              <a:t>There is a need for real-time financial insights and alert mechanisms.</a:t>
            </a:r>
          </a:p>
          <a:p>
            <a:pPr algn="just">
              <a:lnSpc>
                <a:spcPct val="150000"/>
              </a:lnSpc>
            </a:pPr>
            <a:r>
              <a:rPr lang="en-GB" sz="1800" dirty="0">
                <a:latin typeface="Times New Roman"/>
                <a:ea typeface="+mn-lt"/>
                <a:cs typeface="+mn-lt"/>
              </a:rPr>
              <a:t>A Smart Digital Wallet using Object-Oriented design is required for secure, modular and efficient financial management.</a:t>
            </a:r>
          </a:p>
          <a:p>
            <a:pPr algn="just"/>
            <a:endParaRPr lang="en-GB" sz="1800" dirty="0">
              <a:latin typeface="Times New Roman"/>
              <a:cs typeface="Times New Roman"/>
            </a:endParaRPr>
          </a:p>
          <a:p>
            <a:pPr algn="just"/>
            <a:endParaRPr lang="en-GB" sz="1800" dirty="0">
              <a:latin typeface="Times New Roman"/>
              <a:cs typeface="Times New Roman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57417C-6A3B-61BB-8574-120D14424A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148" t="17695" r="32268" b="15396"/>
          <a:stretch>
            <a:fillRect/>
          </a:stretch>
        </p:blipFill>
        <p:spPr>
          <a:xfrm>
            <a:off x="8653732" y="1690688"/>
            <a:ext cx="2700068" cy="416155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C0D8F6-C1BC-FF53-F271-B443A648C816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8005" y="122801"/>
            <a:ext cx="743860" cy="903742"/>
          </a:xfrm>
          <a:prstGeom prst="rect">
            <a:avLst/>
          </a:prstGeom>
          <a:noFill/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81BF35-77A0-9C6F-FA77-C813D7519A74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29182" y="122801"/>
            <a:ext cx="885837" cy="90374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62954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09BBB-0DEC-4884-7B1F-B2FAFCAEE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"/>
            <a:ext cx="10515600" cy="1325563"/>
          </a:xfrm>
        </p:spPr>
        <p:txBody>
          <a:bodyPr/>
          <a:lstStyle/>
          <a:p>
            <a:pPr algn="ctr"/>
            <a:r>
              <a:rPr lang="en-GB" b="1" dirty="0">
                <a:latin typeface="Times New Roman" panose="02020603050405020304" pitchFamily="18" charset="0"/>
                <a:ea typeface="+mj-lt"/>
                <a:cs typeface="Times New Roman" panose="02020603050405020304" pitchFamily="18" charset="0"/>
              </a:rPr>
              <a:t>Existing Work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225331-5390-895D-05ED-275A6C0769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9782"/>
            <a:ext cx="10307320" cy="4012883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GB" sz="2000" dirty="0">
                <a:latin typeface="Times New Roman"/>
                <a:ea typeface="+mn-lt"/>
                <a:cs typeface="+mn-lt"/>
              </a:rPr>
              <a:t>Traditional wallets and banking apps mainly focus on transactions and payments.</a:t>
            </a:r>
            <a:endParaRPr lang="en-US" sz="2000" dirty="0">
              <a:latin typeface="Times New Roman"/>
              <a:ea typeface="+mn-lt"/>
              <a:cs typeface="+mn-lt"/>
            </a:endParaRPr>
          </a:p>
          <a:p>
            <a:pPr algn="just">
              <a:lnSpc>
                <a:spcPct val="150000"/>
              </a:lnSpc>
            </a:pPr>
            <a:r>
              <a:rPr lang="en-GB" sz="2000" dirty="0">
                <a:latin typeface="Times New Roman"/>
                <a:ea typeface="+mn-lt"/>
                <a:cs typeface="+mn-lt"/>
              </a:rPr>
              <a:t>Expense tracking apps provide limited budget analysis and customization.</a:t>
            </a:r>
          </a:p>
          <a:p>
            <a:pPr algn="just">
              <a:lnSpc>
                <a:spcPct val="150000"/>
              </a:lnSpc>
            </a:pPr>
            <a:r>
              <a:rPr lang="en-GB" sz="2000" dirty="0">
                <a:latin typeface="Times New Roman"/>
                <a:ea typeface="+mn-lt"/>
                <a:cs typeface="+mn-lt"/>
              </a:rPr>
              <a:t>Most systems lack integrated financial analytics and real-time alerts.</a:t>
            </a:r>
          </a:p>
          <a:p>
            <a:pPr algn="just">
              <a:lnSpc>
                <a:spcPct val="150000"/>
              </a:lnSpc>
            </a:pPr>
            <a:r>
              <a:rPr lang="en-GB" sz="2000" dirty="0">
                <a:latin typeface="Times New Roman"/>
                <a:ea typeface="+mn-lt"/>
                <a:cs typeface="+mn-lt"/>
              </a:rPr>
              <a:t>Many existing solutions are not designed using a fully modular object-oriented approach.</a:t>
            </a:r>
          </a:p>
          <a:p>
            <a:pPr algn="just">
              <a:lnSpc>
                <a:spcPct val="150000"/>
              </a:lnSpc>
            </a:pPr>
            <a:endParaRPr lang="en-GB" sz="2000" dirty="0">
              <a:latin typeface="Aptos"/>
              <a:cs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2BA4F2-B0B3-75CE-67FD-5EF62D99683C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8005" y="122801"/>
            <a:ext cx="743860" cy="903742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43FA5B0-92FA-5E44-0CC3-2979DDD4CD69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29182" y="122801"/>
            <a:ext cx="885837" cy="90374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36568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74908-E955-A0C0-8184-ABF04A9C1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GB" b="1" dirty="0">
                <a:latin typeface="Times New Roman" panose="02020603050405020304" pitchFamily="18" charset="0"/>
                <a:ea typeface="+mj-lt"/>
                <a:cs typeface="Times New Roman" panose="02020603050405020304" pitchFamily="18" charset="0"/>
              </a:rPr>
              <a:t>Proposed System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D53BD3-607E-6692-C0B3-7CB4F1D71A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57748"/>
            <a:ext cx="6735793" cy="39509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GB" sz="1800" dirty="0">
                <a:latin typeface="Times New Roman"/>
                <a:ea typeface="+mn-lt"/>
                <a:cs typeface="+mn-lt"/>
              </a:rPr>
              <a:t>The proposed system is a Smart Digital Wallet that securely manages user’s transactions.</a:t>
            </a:r>
          </a:p>
          <a:p>
            <a:pPr algn="just">
              <a:lnSpc>
                <a:spcPct val="150000"/>
              </a:lnSpc>
            </a:pPr>
            <a:r>
              <a:rPr lang="en-GB" sz="1800" dirty="0">
                <a:latin typeface="Times New Roman"/>
                <a:ea typeface="+mn-lt"/>
                <a:cs typeface="+mn-lt"/>
              </a:rPr>
              <a:t>It automatically tracks and categorizes expenses in real time.</a:t>
            </a:r>
          </a:p>
          <a:p>
            <a:pPr algn="just">
              <a:lnSpc>
                <a:spcPct val="150000"/>
              </a:lnSpc>
            </a:pPr>
            <a:r>
              <a:rPr lang="en-GB" sz="1800" dirty="0">
                <a:latin typeface="Times New Roman"/>
                <a:ea typeface="+mn-lt"/>
                <a:cs typeface="+mn-lt"/>
              </a:rPr>
              <a:t>The system provides budget planning and detailed financial analytics.</a:t>
            </a:r>
          </a:p>
          <a:p>
            <a:pPr algn="just">
              <a:lnSpc>
                <a:spcPct val="150000"/>
              </a:lnSpc>
            </a:pPr>
            <a:r>
              <a:rPr lang="en-GB" sz="1800" dirty="0">
                <a:latin typeface="Times New Roman"/>
                <a:ea typeface="+mn-lt"/>
                <a:cs typeface="+mn-lt"/>
              </a:rPr>
              <a:t>Timely notifications and alerts help users control spending.</a:t>
            </a:r>
          </a:p>
          <a:p>
            <a:pPr algn="just">
              <a:lnSpc>
                <a:spcPct val="150000"/>
              </a:lnSpc>
            </a:pPr>
            <a:r>
              <a:rPr lang="en-GB" sz="1800" dirty="0">
                <a:latin typeface="Times New Roman"/>
                <a:ea typeface="+mn-lt"/>
                <a:cs typeface="+mn-lt"/>
              </a:rPr>
              <a:t>Object-Oriented design ensures modularity, scalability, and easy maintenance.</a:t>
            </a:r>
          </a:p>
          <a:p>
            <a:pPr algn="just">
              <a:lnSpc>
                <a:spcPct val="150000"/>
              </a:lnSpc>
            </a:pPr>
            <a:endParaRPr lang="en-GB" sz="1800" dirty="0">
              <a:latin typeface="Times New Roman"/>
              <a:cs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C5515D-A51C-C581-C4AA-7639B4CED6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6229" y="2178151"/>
            <a:ext cx="4021568" cy="250169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325D3D4-6ADA-9808-5FA3-83882F3F8689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8005" y="122801"/>
            <a:ext cx="743860" cy="903742"/>
          </a:xfrm>
          <a:prstGeom prst="rect">
            <a:avLst/>
          </a:prstGeom>
          <a:noFill/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5807332-3502-C0DE-13A2-0D6E20CF6CE3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29182" y="122801"/>
            <a:ext cx="885837" cy="90374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90893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3352C-697E-CEFF-AFBE-3EB7740AC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GB" sz="3400" b="1" dirty="0">
                <a:latin typeface="Times New Roman"/>
                <a:ea typeface="+mj-lt"/>
                <a:cs typeface="+mj-lt"/>
              </a:rPr>
              <a:t>Implementation</a:t>
            </a:r>
            <a:endParaRPr lang="en-US" sz="3400" b="1" dirty="0"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D628C1-7060-F5AC-E595-FFBA4AF54B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64562"/>
            <a:ext cx="10515600" cy="4205923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GB" sz="2000" dirty="0">
                <a:latin typeface="Times New Roman"/>
                <a:ea typeface="+mn-lt"/>
                <a:cs typeface="+mn-lt"/>
              </a:rPr>
              <a:t>The system is implemented using Object-Oriented programming principles.</a:t>
            </a:r>
            <a:endParaRPr lang="en-GB" sz="2000" dirty="0">
              <a:latin typeface="Times New Roman"/>
              <a:cs typeface="Times New Roman"/>
            </a:endParaRPr>
          </a:p>
          <a:p>
            <a:pPr algn="just">
              <a:lnSpc>
                <a:spcPct val="150000"/>
              </a:lnSpc>
            </a:pPr>
            <a:r>
              <a:rPr lang="en-GB" sz="2000" dirty="0">
                <a:latin typeface="Times New Roman"/>
                <a:ea typeface="+mn-lt"/>
                <a:cs typeface="+mn-lt"/>
              </a:rPr>
              <a:t>Each module is developed as independent classes and packages.</a:t>
            </a:r>
            <a:endParaRPr lang="en-GB" sz="2000" dirty="0">
              <a:latin typeface="Times New Roman"/>
              <a:cs typeface="Times New Roman"/>
            </a:endParaRPr>
          </a:p>
          <a:p>
            <a:pPr algn="just">
              <a:lnSpc>
                <a:spcPct val="150000"/>
              </a:lnSpc>
            </a:pPr>
            <a:r>
              <a:rPr lang="en-GB" sz="2000" dirty="0">
                <a:latin typeface="Times New Roman"/>
                <a:ea typeface="+mn-lt"/>
                <a:cs typeface="+mn-lt"/>
              </a:rPr>
              <a:t>Secure authentication and transaction handling are enforced.</a:t>
            </a:r>
          </a:p>
          <a:p>
            <a:pPr algn="just">
              <a:lnSpc>
                <a:spcPct val="150000"/>
              </a:lnSpc>
            </a:pPr>
            <a:r>
              <a:rPr lang="en-GB" sz="2000" dirty="0">
                <a:latin typeface="Times New Roman"/>
                <a:ea typeface="+mn-lt"/>
                <a:cs typeface="+mn-lt"/>
              </a:rPr>
              <a:t>Expense tracking, budgeting, and analytics are integrated through business logic.</a:t>
            </a:r>
            <a:endParaRPr lang="en-GB" sz="2000" dirty="0">
              <a:latin typeface="Times New Roman"/>
              <a:cs typeface="Times New Roman"/>
            </a:endParaRPr>
          </a:p>
          <a:p>
            <a:pPr algn="just">
              <a:lnSpc>
                <a:spcPct val="150000"/>
              </a:lnSpc>
            </a:pPr>
            <a:r>
              <a:rPr lang="en-GB" sz="2000" dirty="0">
                <a:latin typeface="Times New Roman"/>
                <a:ea typeface="+mn-lt"/>
                <a:cs typeface="+mn-lt"/>
              </a:rPr>
              <a:t>The modular design allows easy upgrades and future enhancements.</a:t>
            </a:r>
            <a:endParaRPr lang="en-GB" sz="2000" dirty="0">
              <a:latin typeface="Times New Roman"/>
              <a:cs typeface="Times New Roman"/>
            </a:endParaRPr>
          </a:p>
          <a:p>
            <a:pPr algn="just">
              <a:lnSpc>
                <a:spcPct val="150000"/>
              </a:lnSpc>
            </a:pPr>
            <a:endParaRPr lang="en-GB" sz="2000" dirty="0">
              <a:latin typeface="Times New Roman"/>
              <a:cs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6C9DAE-6F30-44C0-089B-D955BCAF03A4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8005" y="122801"/>
            <a:ext cx="743860" cy="903742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0135BDE-098D-4965-0C99-9A860ED1FBA8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29182" y="122801"/>
            <a:ext cx="885837" cy="90374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06769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967F0-DFBA-0705-A504-5E05930C2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System Architecture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A065DF-128A-12C2-2B88-78876EDFA014}"/>
              </a:ext>
            </a:extLst>
          </p:cNvPr>
          <p:cNvSpPr txBox="1"/>
          <p:nvPr/>
        </p:nvSpPr>
        <p:spPr>
          <a:xfrm>
            <a:off x="469241" y="257154"/>
            <a:ext cx="11565423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440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Content Placeholder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82E451C-6C2C-36B6-C425-97B7A26A5E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11875" y="1215511"/>
            <a:ext cx="6179454" cy="531382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E688E22-593B-9381-DD88-BEDC8383C88B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8005" y="122801"/>
            <a:ext cx="743860" cy="903742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2A77CB2-058F-C0E7-FE28-188122AAA2FA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29182" y="122801"/>
            <a:ext cx="885837" cy="90374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076478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E5E71-5792-8D73-8018-AF7B47CA7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140542"/>
          </a:xfrm>
        </p:spPr>
        <p:txBody>
          <a:bodyPr>
            <a:normAutofit/>
          </a:bodyPr>
          <a:lstStyle/>
          <a:p>
            <a:pPr algn="ctr"/>
            <a:r>
              <a:rPr lang="en-GB" sz="3400" b="1" dirty="0">
                <a:solidFill>
                  <a:schemeClr val="tx2"/>
                </a:solidFill>
                <a:latin typeface="Times New Roman" panose="02020603050405020304" pitchFamily="18" charset="0"/>
                <a:ea typeface="+mj-lt"/>
                <a:cs typeface="Times New Roman" panose="02020603050405020304" pitchFamily="18" charset="0"/>
              </a:rPr>
              <a:t>Module 1: Authentication &amp; User Management</a:t>
            </a:r>
            <a:endParaRPr lang="en-US" sz="3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7FC128-5D1D-5FE9-4EA0-37EA80680C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51396"/>
            <a:ext cx="10515600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b="1" dirty="0">
                <a:latin typeface="Times New Roman"/>
                <a:cs typeface="Times New Roman"/>
              </a:rPr>
              <a:t>Responsibility: </a:t>
            </a:r>
            <a:r>
              <a:rPr lang="en-US" dirty="0">
                <a:latin typeface="Times New Roman"/>
                <a:cs typeface="Times New Roman"/>
              </a:rPr>
              <a:t>User identity, security, and session management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GB" b="1" dirty="0">
                <a:latin typeface="Times New Roman"/>
                <a:cs typeface="Times New Roman"/>
              </a:rPr>
              <a:t>Key Components :   </a:t>
            </a:r>
          </a:p>
          <a:p>
            <a:pPr algn="just">
              <a:lnSpc>
                <a:spcPct val="100000"/>
              </a:lnSpc>
            </a:pPr>
            <a:r>
              <a:rPr lang="en-GB" dirty="0">
                <a:latin typeface="Times New Roman"/>
                <a:cs typeface="Times New Roman"/>
              </a:rPr>
              <a:t>User registration and login</a:t>
            </a:r>
          </a:p>
          <a:p>
            <a:pPr algn="just">
              <a:lnSpc>
                <a:spcPct val="100000"/>
              </a:lnSpc>
            </a:pPr>
            <a:r>
              <a:rPr lang="en-GB" dirty="0">
                <a:latin typeface="Times New Roman"/>
                <a:cs typeface="Times New Roman"/>
              </a:rPr>
              <a:t>JWT token generation and validation </a:t>
            </a:r>
          </a:p>
          <a:p>
            <a:pPr algn="just">
              <a:lnSpc>
                <a:spcPct val="100000"/>
              </a:lnSpc>
            </a:pPr>
            <a:r>
              <a:rPr lang="en-GB" dirty="0">
                <a:latin typeface="Times New Roman"/>
                <a:cs typeface="Times New Roman"/>
              </a:rPr>
              <a:t>Password security (</a:t>
            </a:r>
            <a:r>
              <a:rPr lang="en-GB" dirty="0" err="1">
                <a:latin typeface="Times New Roman"/>
                <a:cs typeface="Times New Roman"/>
              </a:rPr>
              <a:t>bcrypt</a:t>
            </a:r>
            <a:r>
              <a:rPr lang="en-GB" dirty="0">
                <a:latin typeface="Times New Roman"/>
                <a:cs typeface="Times New Roman"/>
              </a:rPr>
              <a:t>)</a:t>
            </a:r>
          </a:p>
          <a:p>
            <a:pPr algn="just">
              <a:lnSpc>
                <a:spcPct val="100000"/>
              </a:lnSpc>
            </a:pPr>
            <a:r>
              <a:rPr lang="en-GB" dirty="0">
                <a:latin typeface="Times New Roman"/>
                <a:cs typeface="Times New Roman"/>
              </a:rPr>
              <a:t>User profile CRUD </a:t>
            </a:r>
          </a:p>
          <a:p>
            <a:pPr algn="just">
              <a:lnSpc>
                <a:spcPct val="100000"/>
              </a:lnSpc>
            </a:pPr>
            <a:r>
              <a:rPr lang="en-GB" dirty="0">
                <a:latin typeface="Times New Roman"/>
                <a:cs typeface="Times New Roman"/>
              </a:rPr>
              <a:t>Session management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90A9179-9FF1-E0E5-E7A5-3C77E7330587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8005" y="122801"/>
            <a:ext cx="743860" cy="903742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9B9CC43-CE9A-4F0F-8C33-95001EA134FC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29182" y="122801"/>
            <a:ext cx="885837" cy="90374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01144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72DC0-E3C9-0DE4-0648-A0CF623F8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GB" sz="3400" b="1" dirty="0">
                <a:latin typeface="Times New Roman" panose="02020603050405020304" pitchFamily="18" charset="0"/>
                <a:ea typeface="+mj-lt"/>
                <a:cs typeface="Times New Roman" panose="02020603050405020304" pitchFamily="18" charset="0"/>
              </a:rPr>
              <a:t>Module 2: Expense Management</a:t>
            </a:r>
            <a:endParaRPr lang="en-US" b="1" dirty="0">
              <a:latin typeface="Times New Roman" panose="02020603050405020304" pitchFamily="18" charset="0"/>
              <a:ea typeface="+mj-lt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A76DC8-29EF-D76B-2D52-453085F7B4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3425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just">
              <a:lnSpc>
                <a:spcPct val="170000"/>
              </a:lnSpc>
              <a:buNone/>
            </a:pPr>
            <a:r>
              <a:rPr lang="en-US" b="1" dirty="0">
                <a:latin typeface="Times New Roman"/>
                <a:ea typeface="+mn-lt"/>
                <a:cs typeface="+mn-lt"/>
              </a:rPr>
              <a:t>Responsibility: </a:t>
            </a:r>
            <a:r>
              <a:rPr lang="en-US" dirty="0">
                <a:latin typeface="Times New Roman"/>
                <a:ea typeface="+mn-lt"/>
                <a:cs typeface="+mn-lt"/>
              </a:rPr>
              <a:t>Transaction tracking and categorization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b="1" dirty="0">
                <a:latin typeface="Times New Roman"/>
                <a:ea typeface="+mn-lt"/>
                <a:cs typeface="+mn-lt"/>
              </a:rPr>
              <a:t>Key Components:</a:t>
            </a:r>
            <a:endParaRPr lang="en-GB" b="1" dirty="0">
              <a:latin typeface="Times New Roman"/>
              <a:ea typeface="+mn-lt"/>
              <a:cs typeface="+mn-lt"/>
            </a:endParaRPr>
          </a:p>
          <a:p>
            <a:pPr algn="just">
              <a:lnSpc>
                <a:spcPct val="100000"/>
              </a:lnSpc>
            </a:pPr>
            <a:r>
              <a:rPr lang="en-US" dirty="0">
                <a:latin typeface="Times New Roman"/>
                <a:ea typeface="+mn-lt"/>
                <a:cs typeface="+mn-lt"/>
              </a:rPr>
              <a:t>Expense CRUD operations</a:t>
            </a:r>
            <a:endParaRPr lang="en-GB" dirty="0">
              <a:latin typeface="Times New Roman"/>
              <a:ea typeface="+mn-lt"/>
              <a:cs typeface="+mn-lt"/>
            </a:endParaRPr>
          </a:p>
          <a:p>
            <a:pPr algn="just">
              <a:lnSpc>
                <a:spcPct val="100000"/>
              </a:lnSpc>
            </a:pPr>
            <a:r>
              <a:rPr lang="en-US" dirty="0">
                <a:latin typeface="Times New Roman"/>
                <a:ea typeface="+mn-lt"/>
                <a:cs typeface="+mn-lt"/>
              </a:rPr>
              <a:t>Category management</a:t>
            </a:r>
            <a:endParaRPr lang="en-GB" dirty="0">
              <a:latin typeface="Times New Roman"/>
              <a:ea typeface="+mn-lt"/>
              <a:cs typeface="+mn-lt"/>
            </a:endParaRPr>
          </a:p>
          <a:p>
            <a:pPr algn="just">
              <a:lnSpc>
                <a:spcPct val="100000"/>
              </a:lnSpc>
            </a:pPr>
            <a:r>
              <a:rPr lang="en-US" dirty="0">
                <a:latin typeface="Times New Roman"/>
                <a:ea typeface="+mn-lt"/>
                <a:cs typeface="+mn-lt"/>
              </a:rPr>
              <a:t>Transaction import from payment platforms</a:t>
            </a:r>
            <a:endParaRPr lang="en-GB" dirty="0">
              <a:latin typeface="Times New Roman"/>
              <a:ea typeface="+mn-lt"/>
              <a:cs typeface="+mn-lt"/>
            </a:endParaRPr>
          </a:p>
          <a:p>
            <a:pPr algn="just">
              <a:lnSpc>
                <a:spcPct val="100000"/>
              </a:lnSpc>
            </a:pPr>
            <a:r>
              <a:rPr lang="en-US" dirty="0">
                <a:latin typeface="Times New Roman"/>
                <a:ea typeface="+mn-lt"/>
                <a:cs typeface="+mn-lt"/>
              </a:rPr>
              <a:t>Expense filtering and search</a:t>
            </a:r>
            <a:endParaRPr lang="en-GB" dirty="0">
              <a:latin typeface="Times New Roman"/>
              <a:ea typeface="+mn-lt"/>
              <a:cs typeface="+mn-lt"/>
            </a:endParaRPr>
          </a:p>
          <a:p>
            <a:pPr algn="just">
              <a:lnSpc>
                <a:spcPct val="100000"/>
              </a:lnSpc>
            </a:pPr>
            <a:r>
              <a:rPr lang="en-US" dirty="0">
                <a:latin typeface="Times New Roman"/>
                <a:ea typeface="+mn-lt"/>
                <a:cs typeface="+mn-lt"/>
              </a:rPr>
              <a:t>Multi-platform data normalization</a:t>
            </a:r>
            <a:endParaRPr lang="en-GB" dirty="0">
              <a:latin typeface="Times New Roman"/>
              <a:ea typeface="+mn-lt"/>
              <a:cs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594A89-8AD7-418E-C1AC-022FB0C4A777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8005" y="122801"/>
            <a:ext cx="743860" cy="903742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E5DB6FE-6AF5-BA94-1F90-C153814D36DE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29182" y="122801"/>
            <a:ext cx="885837" cy="90374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862392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6F805-5BB5-D35C-A4E8-3AF67D8BE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32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GB" sz="3400" b="1" dirty="0">
                <a:latin typeface="Times New Roman" panose="02020603050405020304" pitchFamily="18" charset="0"/>
                <a:ea typeface="+mj-lt"/>
                <a:cs typeface="Times New Roman" panose="02020603050405020304" pitchFamily="18" charset="0"/>
              </a:rPr>
              <a:t>Module 3: AI/ML Intelligence Services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21EA2-570F-6D2C-77A8-84AD8DCDD4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9558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just">
              <a:lnSpc>
                <a:spcPct val="170000"/>
              </a:lnSpc>
              <a:buNone/>
            </a:pPr>
            <a:r>
              <a:rPr lang="en-GB" b="1" dirty="0">
                <a:latin typeface="Times New Roman"/>
                <a:ea typeface="+mn-lt"/>
                <a:cs typeface="+mn-lt"/>
              </a:rPr>
              <a:t>Responsibility:</a:t>
            </a:r>
            <a:r>
              <a:rPr lang="en-GB" dirty="0">
                <a:latin typeface="Times New Roman"/>
                <a:ea typeface="+mn-lt"/>
                <a:cs typeface="+mn-lt"/>
              </a:rPr>
              <a:t> Intelligent automation and predictions</a:t>
            </a:r>
          </a:p>
          <a:p>
            <a:pPr marL="0" indent="0" algn="just">
              <a:buNone/>
            </a:pPr>
            <a:r>
              <a:rPr lang="en-GB" b="1" dirty="0">
                <a:latin typeface="Times New Roman"/>
                <a:ea typeface="+mn-lt"/>
                <a:cs typeface="+mn-lt"/>
              </a:rPr>
              <a:t>Key Components:</a:t>
            </a:r>
            <a:endParaRPr lang="en-GB" b="1" dirty="0">
              <a:latin typeface="Times New Roman"/>
              <a:cs typeface="Times New Roman"/>
            </a:endParaRPr>
          </a:p>
          <a:p>
            <a:pPr algn="just"/>
            <a:r>
              <a:rPr lang="en-GB" dirty="0">
                <a:latin typeface="Times New Roman"/>
                <a:ea typeface="+mn-lt"/>
                <a:cs typeface="+mn-lt"/>
              </a:rPr>
              <a:t>Automatic expense categorization (NLP)</a:t>
            </a:r>
            <a:endParaRPr lang="en-GB" dirty="0">
              <a:latin typeface="Times New Roman"/>
              <a:cs typeface="Times New Roman"/>
            </a:endParaRPr>
          </a:p>
          <a:p>
            <a:pPr algn="just"/>
            <a:r>
              <a:rPr lang="en-GB" dirty="0">
                <a:latin typeface="Times New Roman"/>
                <a:ea typeface="+mn-lt"/>
                <a:cs typeface="+mn-lt"/>
              </a:rPr>
              <a:t>Predictive budget planning (ARIMA/LSTM)</a:t>
            </a:r>
            <a:endParaRPr lang="en-GB" dirty="0">
              <a:latin typeface="Times New Roman"/>
              <a:cs typeface="Times New Roman"/>
            </a:endParaRPr>
          </a:p>
          <a:p>
            <a:pPr algn="just"/>
            <a:r>
              <a:rPr lang="en-GB" dirty="0">
                <a:latin typeface="Times New Roman"/>
                <a:ea typeface="+mn-lt"/>
                <a:cs typeface="+mn-lt"/>
              </a:rPr>
              <a:t>Fraud and anomaly detection</a:t>
            </a:r>
            <a:endParaRPr lang="en-GB" dirty="0">
              <a:latin typeface="Times New Roman"/>
              <a:cs typeface="Times New Roman"/>
            </a:endParaRPr>
          </a:p>
          <a:p>
            <a:pPr algn="just"/>
            <a:r>
              <a:rPr lang="en-GB" dirty="0">
                <a:latin typeface="Times New Roman"/>
                <a:ea typeface="+mn-lt"/>
                <a:cs typeface="+mn-lt"/>
              </a:rPr>
              <a:t>Smart spending recommendations</a:t>
            </a:r>
            <a:endParaRPr lang="en-GB" dirty="0">
              <a:latin typeface="Times New Roman"/>
              <a:cs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E2DB61-A98D-22DE-B7B0-D575BCBB024E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8005" y="122801"/>
            <a:ext cx="743860" cy="903742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6B6A040-D2E9-9E47-9871-7D240829F3C8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29182" y="122801"/>
            <a:ext cx="885837" cy="90374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774785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E1D4F-C073-63A6-4873-3DA2C4BD357B}"/>
              </a:ext>
            </a:extLst>
          </p:cNvPr>
          <p:cNvSpPr txBox="1">
            <a:spLocks/>
          </p:cNvSpPr>
          <p:nvPr/>
        </p:nvSpPr>
        <p:spPr>
          <a:xfrm>
            <a:off x="838200" y="122801"/>
            <a:ext cx="10515600" cy="83441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16B264E-4503-3699-43A9-FA55CAFAFB1B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8005" y="122801"/>
            <a:ext cx="743860" cy="903742"/>
          </a:xfrm>
          <a:prstGeom prst="rect">
            <a:avLst/>
          </a:prstGeom>
          <a:noFill/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308A3C5-05E1-A2FD-B3F8-DB7C1E719B97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29182" y="122801"/>
            <a:ext cx="885837" cy="903742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023850-89AB-0BD6-28E9-1DF6620DC4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935" y="1307690"/>
            <a:ext cx="4569542" cy="257066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057C98C-8FB1-E391-8238-EA24167FE6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2207" y="1307690"/>
            <a:ext cx="4569542" cy="25693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7F4C67F-29AA-26CD-F6A2-9646E6C57F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26659" y="4071012"/>
            <a:ext cx="4640826" cy="2459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6061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6B522-B477-44AC-09A2-8C747BF0E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2801"/>
            <a:ext cx="10515600" cy="834410"/>
          </a:xfrm>
        </p:spPr>
        <p:txBody>
          <a:bodyPr>
            <a:norm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 Standards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733D51-728C-676B-4EB0-57E3DD84A3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33012"/>
            <a:ext cx="10515600" cy="4351338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Quality and Reliability Standards: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developed following software quality standards such as correctness, reliability, usability, and maintainability. </a:t>
            </a:r>
          </a:p>
          <a:p>
            <a:pPr algn="just">
              <a:lnSpc>
                <a:spcPct val="150000"/>
              </a:lnSpc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and Data Protection Standards: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application follows security engineering standards to protect sensitive user data. </a:t>
            </a:r>
          </a:p>
          <a:p>
            <a:pPr algn="just">
              <a:lnSpc>
                <a:spcPct val="150000"/>
              </a:lnSpc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Coding and Documentation Standards: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 coding practices are followed, including proper naming conventions, modular programming, and in-code documentation. </a:t>
            </a:r>
          </a:p>
          <a:p>
            <a:pPr algn="just">
              <a:lnSpc>
                <a:spcPct val="150000"/>
              </a:lnSpc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and Scalability Standards: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designed to handle multiple users and large volumes of transaction data efficiently.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AC521E-089C-2668-2A6F-2AA0BBDAFB74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8005" y="122801"/>
            <a:ext cx="743860" cy="903742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E1C0CE8-F4FB-59CB-6B77-DAF03A13AC66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29182" y="122801"/>
            <a:ext cx="885837" cy="90374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575308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83684-8DE2-35B5-CC56-267BDFCC9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724" y="182047"/>
            <a:ext cx="10515600" cy="785249"/>
          </a:xfrm>
        </p:spPr>
        <p:txBody>
          <a:bodyPr>
            <a:normAutofit/>
          </a:bodyPr>
          <a:lstStyle/>
          <a:p>
            <a:pPr algn="ctr"/>
            <a:r>
              <a:rPr lang="en-GB" dirty="0">
                <a:latin typeface="Times New Roman"/>
                <a:ea typeface="+mj-lt"/>
                <a:cs typeface="+mj-lt"/>
              </a:rPr>
              <a:t>Conclusion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C40E58-46D7-11DB-4617-D994FFAC3F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1865" y="1992005"/>
            <a:ext cx="10515600" cy="328485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GB" sz="1800" dirty="0">
                <a:latin typeface="Times New Roman"/>
                <a:ea typeface="+mn-lt"/>
                <a:cs typeface="+mn-lt"/>
              </a:rPr>
              <a:t>The Smart Digital Wallet provides an efficient solution for managing digital financial transactions. </a:t>
            </a:r>
          </a:p>
          <a:p>
            <a:pPr algn="just">
              <a:lnSpc>
                <a:spcPct val="150000"/>
              </a:lnSpc>
            </a:pPr>
            <a:r>
              <a:rPr lang="en-GB" sz="1800" dirty="0">
                <a:latin typeface="Times New Roman"/>
                <a:ea typeface="+mn-lt"/>
                <a:cs typeface="+mn-lt"/>
              </a:rPr>
              <a:t>It enables real-time expense tracking and effective budget analysis. </a:t>
            </a:r>
          </a:p>
          <a:p>
            <a:pPr algn="just">
              <a:lnSpc>
                <a:spcPct val="150000"/>
              </a:lnSpc>
            </a:pPr>
            <a:r>
              <a:rPr lang="en-GB" sz="1800" dirty="0">
                <a:latin typeface="Times New Roman"/>
                <a:ea typeface="+mn-lt"/>
                <a:cs typeface="+mn-lt"/>
              </a:rPr>
              <a:t>Object-Oriented design improves system modularity, security, and scalability, the notification system helps users control spending and avoid overspending.</a:t>
            </a:r>
          </a:p>
          <a:p>
            <a:pPr algn="just">
              <a:lnSpc>
                <a:spcPct val="150000"/>
              </a:lnSpc>
            </a:pPr>
            <a:r>
              <a:rPr lang="en-GB" sz="1800" dirty="0">
                <a:latin typeface="Times New Roman"/>
                <a:ea typeface="+mn-lt"/>
                <a:cs typeface="+mn-lt"/>
              </a:rPr>
              <a:t>Overall, the system enhances personal financial management and decision-making.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GB" sz="1800" dirty="0">
              <a:latin typeface="Times New Roman"/>
              <a:cs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7AF0DF-B341-8642-E2D9-BBC4A1B0B1C3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8005" y="122801"/>
            <a:ext cx="743860" cy="903742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913D1D9-CBE3-5B73-57F6-7D5E022D4AD6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29182" y="122801"/>
            <a:ext cx="885837" cy="90374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404830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FEE2E-5265-40C5-130A-FD173DBEA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724" y="185478"/>
            <a:ext cx="10515600" cy="903743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2E1B9E-9D17-594B-578F-296B31B3F8FA}"/>
              </a:ext>
            </a:extLst>
          </p:cNvPr>
          <p:cNvSpPr txBox="1"/>
          <p:nvPr/>
        </p:nvSpPr>
        <p:spPr>
          <a:xfrm>
            <a:off x="961865" y="1356536"/>
            <a:ext cx="10391935" cy="5362815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Sommerville, I. (2016). Software engineering (10th ed.). Pearson Education.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Pressman, R. S., &amp; Maxim, B. R. (2020). Software engineering: A practitioner’s approach (9th ed.). McGraw-Hill Education.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Booch, G., Rumbaugh, J., &amp; Jacobson, I. (2005). The unified </a:t>
            </a:r>
            <a:r>
              <a:rPr lang="en-IN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modeling</a:t>
            </a:r>
            <a:r>
              <a:rPr lang="en-IN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language user guide (2nd ed.). Addison-Wesley.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Gamma, E., Helm, R., Johnson, R., &amp; </a:t>
            </a:r>
            <a:r>
              <a:rPr lang="en-IN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Vlissides</a:t>
            </a:r>
            <a:r>
              <a:rPr lang="en-IN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, J. (1994). Design patterns: Elements of reusable object-oriented software. Addison-Wesley.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Meyer, B. (2000). Object-oriented software construction (2nd ed.). Prentice Hall.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Fowler, M. (2020).Patterns of Enterprise Application </a:t>
            </a:r>
            <a:r>
              <a:rPr lang="en-US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Architecture.Addison</a:t>
            </a:r>
            <a:r>
              <a:rPr lang="en-US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-Wesley.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Davenport, T. H., &amp; </a:t>
            </a:r>
            <a:r>
              <a:rPr lang="en-US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Ronanki</a:t>
            </a:r>
            <a:r>
              <a:rPr lang="en-US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, R. (2020).Artificial Intelligence for the Real </a:t>
            </a:r>
            <a:r>
              <a:rPr lang="en-US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World.Harvard</a:t>
            </a:r>
            <a:r>
              <a:rPr lang="en-US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Business Review.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Sommerville, I. (2020).Software Engineering (10th International Edition).Pearson Education.</a:t>
            </a:r>
            <a:endParaRPr lang="en-IN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14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DEB449-08D7-5BAB-F542-6FBE0A443167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8005" y="122801"/>
            <a:ext cx="743860" cy="903742"/>
          </a:xfrm>
          <a:prstGeom prst="rect">
            <a:avLst/>
          </a:prstGeom>
          <a:noFill/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CE8B4E1-68CD-88AF-7FD1-E0EAF00B842D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29182" y="122801"/>
            <a:ext cx="885837" cy="90374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897117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020C3-B5A5-7080-DEEA-53BBE52AC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2191068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178</TotalTime>
  <Words>742</Words>
  <Application>Microsoft Office PowerPoint</Application>
  <PresentationFormat>Widescreen</PresentationFormat>
  <Paragraphs>81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Times New Roman</vt:lpstr>
      <vt:lpstr>office theme</vt:lpstr>
      <vt:lpstr> Design and Development of an Intelligent Personal Finance Management System with AI-Driven Expense Analytics and Budget Optimization</vt:lpstr>
      <vt:lpstr>Introduction</vt:lpstr>
      <vt:lpstr>Problem Statement</vt:lpstr>
      <vt:lpstr>Existing Work</vt:lpstr>
      <vt:lpstr>Proposed System</vt:lpstr>
      <vt:lpstr>Implementation</vt:lpstr>
      <vt:lpstr>System Architecture</vt:lpstr>
      <vt:lpstr>Module 1: Authentication &amp; User Management</vt:lpstr>
      <vt:lpstr>Module 2: Expense Management</vt:lpstr>
      <vt:lpstr>Module 3: AI/ML Intelligence Services</vt:lpstr>
      <vt:lpstr>PowerPoint Presentation</vt:lpstr>
      <vt:lpstr>Engineering Standards</vt:lpstr>
      <vt:lpstr>Conclusion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Dhiliban MB</dc:creator>
  <cp:lastModifiedBy>SAIRAJ C</cp:lastModifiedBy>
  <cp:revision>57</cp:revision>
  <dcterms:created xsi:type="dcterms:W3CDTF">2026-01-09T02:51:00Z</dcterms:created>
  <dcterms:modified xsi:type="dcterms:W3CDTF">2026-08-18T05:11:48Z</dcterms:modified>
</cp:coreProperties>
</file>